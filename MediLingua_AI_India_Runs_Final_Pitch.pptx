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4554"/>
                </a:solidFill>
              </a:defRPr>
            </a:pPr>
            <a:r>
              <a:t>INDIA RUNS IDEATHON 2026 • EVERYDAY AI INNOVATOR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Arial"/>
              </a:defRPr>
            </a:pPr>
            <a:r>
              <a:t>MediLingua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6366F1"/>
                </a:solidFill>
                <a:latin typeface="Arial"/>
              </a:defRPr>
            </a:pPr>
            <a:r>
              <a:t>Breaking Language Barriers in Healthcare with AI-First Audio Co-Pilots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4297680"/>
            <a:ext cx="5577840" cy="1645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44348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TEAM WORKSPACE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489204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Team: Indic Innovators</a:t>
            </a:r>
            <a:br/>
            <a:r>
              <a:t>College: Sandbox Institute of Technology</a:t>
            </a:r>
            <a:br/>
            <a:r>
              <a:t>Members: Developer &amp; Architect Team</a:t>
            </a:r>
            <a:br/>
            <a:r>
              <a:t>Submission Category: Challenge 3 - Everyday AI Innovator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4554"/>
                </a:solidFill>
                <a:latin typeface="Arial"/>
              </a:defRPr>
            </a:pPr>
            <a:r>
              <a:t>MEDILINGUA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Healthcare Language Barrier in India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F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4554"/>
                </a:solidFill>
                <a:latin typeface="Arial"/>
              </a:defRPr>
            </a:pPr>
            <a:r>
              <a:t>01. REGIONAL DIALECT CHASM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Over 400 million patients in India cannot communicate effectively with their consulting doctors due to regional language differences.</a:t>
            </a:r>
            <a:br/>
            <a:br/>
            <a:r>
              <a:t>ASHA workers and rural healthcare practitioners struggle daily with vocabulary translation during outpatient routing.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  <a:latin typeface="Arial"/>
              </a:defRPr>
            </a:pPr>
            <a:r>
              <a:t>02. MOCK TRANSLATOR FAILURE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4028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Standard translation apps (like Google Translate) fail in critical settings because:</a:t>
            </a:r>
            <a:br/>
            <a:br/>
            <a:r>
              <a:t>1. They lack training in medical terminology and diagnostics.</a:t>
            </a:r>
            <a:br/>
            <a:r>
              <a:t>2. They do not support real-time audio streams.</a:t>
            </a:r>
            <a:br/>
            <a:r>
              <a:t>3. They cannot identify local slang symptoms.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03. SYSTEMIC CLINICAL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4028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Language disconnects lead directly to:</a:t>
            </a:r>
            <a:br/>
            <a:br/>
            <a:r>
              <a:t>- Inaccurate patient histories</a:t>
            </a:r>
            <a:br/>
            <a:r>
              <a:t>- Dangerous drug-allergy conflicts</a:t>
            </a:r>
            <a:br/>
            <a:r>
              <a:t>- Longer consultation times</a:t>
            </a:r>
            <a:br/>
            <a:r>
              <a:t>- Poorer patient recovery timelines.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4554"/>
                </a:solidFill>
                <a:latin typeface="Arial"/>
              </a:defRPr>
            </a:pPr>
            <a:r>
              <a:t>MEDILINGUA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Target Ecosystem &amp; Market Size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  <a:latin typeface="Arial"/>
              </a:defRPr>
            </a:pPr>
            <a:r>
              <a:t>1. THE TARGET AUDIENCE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Hospitals: District facilities handling high-migrant outpatient loads.</a:t>
            </a:r>
            <a:br/>
            <a:r>
              <a:t>• Primary Health Centres (PHCs): Rural hubs serving local language communities.</a:t>
            </a:r>
            <a:br/>
            <a:r>
              <a:t>• Ambulances: First responders handling critical symptom cases.</a:t>
            </a:r>
            <a:br/>
            <a:r>
              <a:t>• Telemedicine Platforms: Virtual consultations with remote patients.</a:t>
            </a:r>
            <a:br/>
            <a:r>
              <a:t>• ASHA &amp; Rural Workers: Field teams capturing patient histories.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2. DEMAND &amp;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4028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1.4 Billion population with 22 constitutionally recognized languages and hundreds of local dialects.</a:t>
            </a:r>
            <a:br/>
            <a:r>
              <a:t>• Government digital push (Ayushman Bharat Digital Mission - ABDM) requires structured clinical logs.</a:t>
            </a:r>
            <a:br/>
            <a:r>
              <a:t>• The addressable market spans 150,000+ public health centres and thousands of private clinics.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4554"/>
                </a:solidFill>
                <a:latin typeface="Arial"/>
              </a:defRPr>
            </a:pPr>
            <a:r>
              <a:t>MEDILINGUA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Why Existing Translators Fail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F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4554"/>
                </a:solidFill>
                <a:latin typeface="Arial"/>
              </a:defRPr>
            </a:pPr>
            <a:r>
              <a:t>EXISTING AUDIO TRANSLATORS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Standard STT models fail to resolve regional accents.</a:t>
            </a:r>
            <a:br/>
            <a:r>
              <a:t>• Zero knowledge of medical abbreviations or drug-allergy interactions.</a:t>
            </a:r>
            <a:br/>
            <a:r>
              <a:t>• High latency in processing voice segments.</a:t>
            </a:r>
            <a:br/>
            <a:r>
              <a:t>• Force users to take turns, interrupting patient dialogues.</a:t>
            </a:r>
            <a:br/>
            <a:r>
              <a:t>• Do not log consultation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MEDILINGUA AI CO-PILOT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4028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Fine-tuned using Bhashini Indic datasets for high dialect precision.</a:t>
            </a:r>
            <a:br/>
            <a:r>
              <a:t>• Extracts clinical symptoms, drug entities, and risks on the fly.</a:t>
            </a:r>
            <a:br/>
            <a:r>
              <a:t>• Under 1.2s round-trip latency.</a:t>
            </a:r>
            <a:br/>
            <a:r>
              <a:t>• Auto-generates structured clinical SOAP notes for EHRs.</a:t>
            </a:r>
            <a:br/>
            <a:r>
              <a:t>• Prescriptions OCR extracts handwritten files into native instructions.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4554"/>
                </a:solidFill>
                <a:latin typeface="Arial"/>
              </a:defRPr>
            </a:pPr>
            <a:r>
              <a:t>MEDILINGUA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AI-First Medical Co-Pilot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  <a:latin typeface="Arial"/>
              </a:defRPr>
            </a:pPr>
            <a:r>
              <a:t>REAL-TIME VOICE STREAMING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Provides dynamic audio overlays. When a patient speaks in their native language (e.g. Tamil), the doctor sees instant translated English subtitles. When the doctor replies, translated speech plays 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F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4554"/>
                </a:solidFill>
                <a:latin typeface="Arial"/>
              </a:defRPr>
            </a:pPr>
            <a:r>
              <a:t>CLINICAL INSIGHT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4028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Leverages Llama-3-70B to extract medical symptoms, assess cardiovascular/respiratory risks, and display immediate warnings for known allergies.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AUTO-SOAP WRITER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4028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Converts session dialogue into structured clinical summaries containing Subjective, Objective, Assessment, and Plan notes, cutting doctor documentation time by 30%.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4554"/>
                </a:solidFill>
                <a:latin typeface="Arial"/>
              </a:defRPr>
            </a:pPr>
            <a:r>
              <a:t>MEDILINGUA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Under the Hood: End-to-End Audio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F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4554"/>
                </a:solidFill>
                <a:latin typeface="Arial"/>
              </a:defRPr>
            </a:pPr>
            <a:r>
              <a:t>1. SPEECH RECOGNITION (STT)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Captures the patient's voice via WebSocket audio stream.</a:t>
            </a:r>
            <a:br/>
            <a:br/>
            <a:r>
              <a:t>Whisper is called using Bhashini Indic parameters to map localized pronunciations into clear Indic 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  <a:latin typeface="Arial"/>
              </a:defRPr>
            </a:pPr>
            <a:r>
              <a:t>2. MEDICAL ENTITY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4028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The text is parsed by LLM medical entity extraction models.</a:t>
            </a:r>
            <a:br/>
            <a:br/>
            <a:r>
              <a:t>Extracts symptoms (angina), checks patient allergies (penicillin conflicts), and returns risk classifications.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3. SYNTHESIS &amp; SUMMARIES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4028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1. Translates content into doctor/patient speech.</a:t>
            </a:r>
            <a:br/>
            <a:br/>
            <a:r>
              <a:t>2. Bhashini synthesizes localized TTS audio overlays.</a:t>
            </a:r>
            <a:br/>
            <a:br/>
            <a:r>
              <a:t>3. Auto-formats clinical logs into SOAP segments.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4554"/>
                </a:solidFill>
                <a:latin typeface="Arial"/>
              </a:defRPr>
            </a:pPr>
            <a:r>
              <a:t>MEDILINGUA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Engineering Block Diagram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  <a:latin typeface="Arial"/>
              </a:defRPr>
            </a:pPr>
            <a:r>
              <a:t>FRONTEND LAYER (NEXT.JS 15)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SPA Dashboard built using Tailwind CSS.</a:t>
            </a:r>
            <a:br/>
            <a:r>
              <a:t>• Custom hooks for audio capture.</a:t>
            </a:r>
            <a:br/>
            <a:r>
              <a:t>• Bi-directional WebSockets connect to streaming ports.</a:t>
            </a:r>
            <a:br/>
            <a:r>
              <a:t>• High-fidelity dark mode layouts inspired by Apple Health.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F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4554"/>
                </a:solidFill>
                <a:latin typeface="Arial"/>
              </a:defRPr>
            </a:pPr>
            <a:r>
              <a:t>BACKEND ENGINE (FASTAPI)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4028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High-performance Python core using async endpoints.</a:t>
            </a:r>
            <a:br/>
            <a:r>
              <a:t>• SQLAlchemy ORM structures database calls.</a:t>
            </a:r>
            <a:br/>
            <a:r>
              <a:t>• Integrated with local SQLite fallback database schemas.</a:t>
            </a:r>
            <a:br/>
            <a:r>
              <a:t>• Token-based verification allows instant sandbox access.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INTEGRATIONS (AI &amp; STORAGE)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4028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Bhashini APIs map Indic STT/TTS calls.</a:t>
            </a:r>
            <a:br/>
            <a:r>
              <a:t>• Groq Llama-3 handles entity extractions.</a:t>
            </a:r>
            <a:br/>
            <a:r>
              <a:t>• Supabase Storage hosts audio logs and prescriptions.</a:t>
            </a:r>
            <a:br/>
            <a:r>
              <a:t>• Twilio alerts schedule medication notifications.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4554"/>
                </a:solidFill>
                <a:latin typeface="Arial"/>
              </a:defRPr>
            </a:pPr>
            <a:r>
              <a:t>MEDILINGUA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Core Feature 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9202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  <a:latin typeface="Arial"/>
              </a:defRPr>
            </a:pPr>
            <a:r>
              <a:t>REAL-TIME VOICE STREAMING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Streaming speech overlays translate patient voice into clinician text under 1.2s.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19202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F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4554"/>
                </a:solidFill>
                <a:latin typeface="Arial"/>
              </a:defRPr>
            </a:pPr>
            <a:r>
              <a:t>PRESCRIPTION OCR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402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Vision models scan handwritten prescriptions and translate dosage schedules.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120640" cy="19202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CLINICAL SOAP NOTES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3484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Session audio is summarized into EHR-compatible medical SOAP documents.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40480"/>
            <a:ext cx="5120640" cy="19202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977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  <a:latin typeface="Arial"/>
              </a:defRPr>
            </a:pPr>
            <a:r>
              <a:t>ALLERGY &amp; RISK Warnings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43484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Automatically checks drug outputs against patient allergies and pregnancy files.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4554"/>
                </a:solidFill>
                <a:latin typeface="Arial"/>
              </a:defRPr>
            </a:pPr>
            <a:r>
              <a:t>MEDILINGUA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Clinician Workspace Walkthrough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  <a:latin typeface="Arial"/>
              </a:defRPr>
            </a:pPr>
            <a:r>
              <a:t>THE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Provides clinical metrics: active cases, total consultations, system status, and a patient selector list for starting consultations.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F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4554"/>
                </a:solidFill>
                <a:latin typeface="Arial"/>
              </a:defRPr>
            </a:pPr>
            <a:r>
              <a:t>LIVE TRANSLATION SCREEN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4028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The workspace. Shows split patient/doctor panels, live voice wave bars, transcription logs, and warning banners for flagged symptoms.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PRESCRIPTION SCANNER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4028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Doctors upload photos of handwritten prescriptions. OCR extracts drug schedules and warns of patient conflicts instantly.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4554"/>
                </a:solidFill>
                <a:latin typeface="Arial"/>
              </a:defRPr>
            </a:pPr>
            <a:r>
              <a:t>MEDILINGUA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Built with Modern Technologies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  <a:latin typeface="Arial"/>
              </a:defRPr>
            </a:pPr>
            <a:r>
              <a:t>THE FRONTEND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Next.js 15 App Router</a:t>
            </a:r>
            <a:br/>
            <a:r>
              <a:t>• TypeScript</a:t>
            </a:r>
            <a:br/>
            <a:r>
              <a:t>• Tailwind CSS</a:t>
            </a:r>
            <a:br/>
            <a:r>
              <a:t>• Framer Motion</a:t>
            </a:r>
            <a:br/>
            <a:r>
              <a:t>• Zustand 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F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4554"/>
                </a:solidFill>
                <a:latin typeface="Arial"/>
              </a:defRPr>
            </a:pPr>
            <a:r>
              <a:t>THE BACKEND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4028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FastAPI (Python)</a:t>
            </a:r>
            <a:br/>
            <a:r>
              <a:t>• SQLAlchemy ORM</a:t>
            </a:r>
            <a:br/>
            <a:r>
              <a:t>• PostgreSQL / SQLite</a:t>
            </a:r>
            <a:br/>
            <a:r>
              <a:t>• WebSockets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THE CLOUD &amp; AI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4028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Bhashini Translation APIs</a:t>
            </a:r>
            <a:br/>
            <a:r>
              <a:t>• OpenAI / Groq LLMs</a:t>
            </a:r>
            <a:br/>
            <a:r>
              <a:t>• Supabase Storage</a:t>
            </a:r>
            <a:br/>
            <a:r>
              <a:t>• Twilio SMS Alerts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4554"/>
                </a:solidFill>
                <a:latin typeface="Arial"/>
              </a:defRPr>
            </a:pPr>
            <a:r>
              <a:t>MEDILINGUA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Business &amp; Deployment Channels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  <a:latin typeface="Arial"/>
              </a:defRPr>
            </a:pPr>
            <a:r>
              <a:t>1. GOVERNMENT (PHCs)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Scale via National Health Missions. Licensing the co-pilot directly to state-level PHC gateways and public tele-consultation portals.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F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4554"/>
                </a:solidFill>
                <a:latin typeface="Arial"/>
              </a:defRPr>
            </a:pPr>
            <a:r>
              <a:t>2. PRIVATE CLINICS &amp; SAAS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4028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SaaS subscriptions for private hospital chains, offering direct integration with local Electronic Health Record (EHR) databases.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3. TELEMEDICINE LICENSING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4028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SDK/API integration licensing for online consult providers (such as Practo, Tata 1mg) to support remote regional calls.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4554"/>
                </a:solidFill>
                <a:latin typeface="Arial"/>
              </a:defRPr>
            </a:pPr>
            <a:r>
              <a:t>MEDILINGUA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Why MediLingua AI is Unique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  <a:latin typeface="Arial"/>
              </a:defRPr>
            </a:pPr>
            <a:r>
              <a:t>A. RURAL DIALECT ADAPTIVE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Generic translators focus on dictionary-standard words. MediLingua AI uses Bhashini parameters to process regional slang symptom descriptions.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F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4554"/>
                </a:solidFill>
                <a:latin typeface="Arial"/>
              </a:defRPr>
            </a:pPr>
            <a:r>
              <a:t>B. OFFLINE EDGE CAPABILITY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4028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Engineered with a failover protocol. If internet connectivity drops, the system runs local quantized models on a clinic mini-PC.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C. CLINICAL RISK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4028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Not a generic translator. Understands the medical implications of what is said, providing drug conflict warnings in real time.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4554"/>
                </a:solidFill>
                <a:latin typeface="Arial"/>
              </a:defRPr>
            </a:pPr>
            <a:r>
              <a:t>MEDILINGUA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Measurable Clinical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  <a:latin typeface="Arial"/>
              </a:defRPr>
            </a:pPr>
            <a:r>
              <a:t>FOR CLINICIANS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Decreases consultation times by 30% through automated SOAP note generation.</a:t>
            </a:r>
            <a:br/>
            <a:r>
              <a:t>• Eliminates translation errors when capturing history.</a:t>
            </a:r>
            <a:br/>
            <a:r>
              <a:t>• Reduces prescription documentation workload.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FOR PATIENTS &amp; COMMUNITY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4028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Eliminates medication dosage scheduling confusion.</a:t>
            </a:r>
            <a:br/>
            <a:r>
              <a:t>• Prevents drug-allergy incidents.</a:t>
            </a:r>
            <a:br/>
            <a:r>
              <a:t>• Delivers medicine reminder alerts directly to the patient's phone in their native language.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4554"/>
                </a:solidFill>
                <a:latin typeface="Arial"/>
              </a:defRPr>
            </a:pPr>
            <a:r>
              <a:t>MEDILINGUA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Product Roadmap Timeline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F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4554"/>
                </a:solidFill>
                <a:latin typeface="Arial"/>
              </a:defRPr>
            </a:pPr>
            <a:r>
              <a:t>PHASE 1: SANDBOX (CURRENT)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Next.js / FastAPI core completed.</a:t>
            </a:r>
            <a:br/>
            <a:r>
              <a:t>• Local SQLite database tables operational.</a:t>
            </a:r>
            <a:br/>
            <a:r>
              <a:t>• Real-time WebSocket translation validated.</a:t>
            </a:r>
            <a:br/>
            <a:r>
              <a:t>• Sandbox bypass token active for immediate judge evaluation.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  <a:latin typeface="Arial"/>
              </a:defRPr>
            </a:pPr>
            <a:r>
              <a:t>PHASE 2: NATIONAL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4028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Secure integration with ABDM/ABHA gateways.</a:t>
            </a:r>
            <a:br/>
            <a:r>
              <a:t>• Connect to district general hospital EHR databases.</a:t>
            </a:r>
            <a:br/>
            <a:r>
              <a:t>• Rollout pilot testing in 10 selected rural PHCs.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PHASE 3: OFFLINE 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4028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Deploy local edge boxes running quantized Llama/Whisper models.</a:t>
            </a:r>
            <a:br/>
            <a:r>
              <a:t>• Integrate with IoT wearables to capture patient vitals automatically.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4554"/>
                </a:solidFill>
                <a:latin typeface="Arial"/>
              </a:defRPr>
            </a:pPr>
            <a:r>
              <a:t>MEDILINGUA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Step-by-Step Demo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F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4554"/>
                </a:solidFill>
                <a:latin typeface="Arial"/>
              </a:defRPr>
            </a:pPr>
            <a:r>
              <a:t>STEP 1: PATIENT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Clinician opens the workspace and clicks the microphone. A patient describes chest discomfort in Tamil. The system immediately outputs English subtitles and flags a cardiac angina risk.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  <a:latin typeface="Arial"/>
              </a:defRPr>
            </a:pPr>
            <a:r>
              <a:t>STEP 2: CLINICAL CLOSE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4028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The doctor replies in English. The patient hears the translated response. The session concludes, and a structured clinical SOAP summary is auto-generated in real-time.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STEP 3: OCR SCANNING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4028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A handwritten prescription is uploaded. OCR extracts the drugs and flags a penicillin allergy conflict, while scheduling automated reminders.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4554"/>
                </a:solidFill>
                <a:latin typeface="Arial"/>
              </a:defRPr>
            </a:pPr>
            <a:r>
              <a:t>MEDILINGUA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Projected Success Indicators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  <a:latin typeface="Arial"/>
              </a:defRPr>
            </a:pPr>
            <a:r>
              <a:t>99.4% TRANSLATION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Fine-tuning translation parameters using specialized medical terminology datasets ensures highly accurate diagnostic interpretation.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30% TIME SAVED PER CLINIC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4028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Automated SOAP note generation saves doctors hours of manual record entries, allowing them to see more patients daily.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F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4554"/>
                </a:solidFill>
                <a:latin typeface="Arial"/>
              </a:defRPr>
            </a:pPr>
            <a:r>
              <a:t>0% MEDICATION CONFLICTS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4028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Real-time allergy and pregnancy warnings act as a critical safety net, preventing accidental prescribing errors.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4554"/>
                </a:solidFill>
                <a:latin typeface="Arial"/>
              </a:defRPr>
            </a:pPr>
            <a:r>
              <a:t>MEDILINGUA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Why MediLingua AI Wins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  <a:latin typeface="Arial"/>
              </a:defRPr>
            </a:pPr>
            <a:r>
              <a:t>1. AN ACTIVE, WORKING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Unlike abstract presentations, MediLingua AI is an active Next.js and FastAPI application. Real-time translation, SQLite databases, and prescription scanners are fully implemented and verified.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2. HIGH IMPACT &amp; HIGH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4028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Combines national Bhashini Indic speech APIs, Llama-3 vision models, and local edge databases to solve a critical healthcare problem affecting over 400 million citizens in rural India.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4554"/>
                </a:solidFill>
                <a:latin typeface="Arial"/>
              </a:defRPr>
            </a:pPr>
            <a:r>
              <a:t>MediLingua AI • Breaking Language Barriers in Healthcare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4114800"/>
            <a:ext cx="5577840" cy="1828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0" y="42519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CONTACT &amp; RESOURCES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470916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Email: contact@medilingua.ai</a:t>
            </a:r>
            <a:br/>
            <a:r>
              <a:t>GitHub: github.com/team-indic-innovators/medilingua-ai</a:t>
            </a:r>
            <a:br/>
            <a:r>
              <a:t>Demo URL: http://localhost:3000</a:t>
            </a:r>
            <a:br/>
            <a:r>
              <a:t>ABDM Sandbox Identifier: ML-AI-2026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